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promise: every resume becomes structured, comparable, explainable evidence. The numbers on the right are from the live demo dataset shipped with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roughly 10 minutes of context, 15 minutes of live product, 5 minutes of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client for their real numbers here: resumes per role, roles per quarter, minutes per resume. The arithmetic is deliberately simple so they can challenge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 and ask which two hurt the most. Whichever they pick, point forward to the slide that answers it: normalization for spelling, Graph RAG for meaning, the scoring model for consistency, the audit log for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bridge into Graph RAG. The right-hand column is literally the feature list of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reframe: this is a data structure problem, not a headcount problem. That is what the knowledge graph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goals map one-to-one onto the five product areas shown in the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return to at the end. Everything in the walkthrough should be traceable back to one of these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 per tile. Do not go deep here — each one gets its own screen in the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version of this slide: vector search alone gets you fuzzy recall but no reasons. The graph is what makes the answer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step 3. Normalization is the step that makes every later number comparable across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ownership message: the client is not locked into our taxonomy. They upload their own CSV from the Skills page and re-import.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 dataset is only five resumes and already produces 356 nodes and 1,351 relationships. Point out that density is the source of the recall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Defaults are 40/20/20/10/10 and every weight is a slider on the Skill Match page, so a role can be re-weighted live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fallback line matters for procurement: the platform runs air-gapped with no external AI calls if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proprietary lock-in. Everything here is open source and deployable in the client's own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seeded roles ship with the platform; the permission matrix is configuration, so more roles are additive.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live app here if the room has network access; the slides are the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asking for two things: their Skills CSV and 200 anonymised resumes. That is everything needed to run the same demo on their own data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128016"/>
            <a:ext cx="4059936" cy="6729984"/>
          </a:xfrm>
          <a:prstGeom prst="rect">
            <a:avLst/>
          </a:prstGeom>
          <a:solidFill>
            <a:srgbClr val="0E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128016"/>
            <a:ext cx="18288" cy="6729984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4DFF"/>
                </a:solidFill>
                <a:latin typeface="Segoe UI"/>
              </a:rPr>
              <a:t>CLIENT DEMO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AI Skill Analyser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FC4FF"/>
                </a:solidFill>
                <a:latin typeface="Segoe UI"/>
              </a:rPr>
              <a:t>Graph RAG–Based HR Recruitment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611880"/>
            <a:ext cx="1188720" cy="32004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9CB5"/>
                </a:solidFill>
                <a:latin typeface="Segoe UI"/>
              </a:rPr>
              <a:t>Hire on evidence, not keywords. Upload a resume, get a ranked, explainable shortlist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8920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8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Explainable AI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48920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8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Knowledge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8920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8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Enterprise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600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145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984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skills in the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60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356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944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graph nodes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1 351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9044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relationships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480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138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864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automated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CB5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CB5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What we will cover in the next 30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Five parts: the problem we set out to solve, the goal, how the platform works, a live walkthrough, and the impact.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10820095" cy="7315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965960"/>
            <a:ext cx="45720" cy="731520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185415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04438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671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E36"/>
                </a:solidFill>
                <a:latin typeface="Segoe UI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94560"/>
            <a:ext cx="6339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84"/>
                </a:solidFill>
                <a:latin typeface="Segoe UI"/>
              </a:rPr>
              <a:t>Where hiring loses time, money and good candidates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07208"/>
            <a:ext cx="10820095" cy="7315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807208"/>
            <a:ext cx="45720" cy="731520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02666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9009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083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E36"/>
                </a:solidFill>
                <a:latin typeface="Segoe UI"/>
              </a:rPr>
              <a:t>Goal &amp; end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35808"/>
            <a:ext cx="6339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84"/>
                </a:solidFill>
                <a:latin typeface="Segoe UI"/>
              </a:rPr>
              <a:t>What we committed to build and what success looks like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48456"/>
            <a:ext cx="10820095" cy="7315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48456"/>
            <a:ext cx="45720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8679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73E8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496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E36"/>
                </a:solidFill>
                <a:latin typeface="Segoe UI"/>
              </a:rPr>
              <a:t>The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77056"/>
            <a:ext cx="6339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84"/>
                </a:solidFill>
                <a:latin typeface="Segoe UI"/>
              </a:rPr>
              <a:t>Graph RAG architecture, scoring model, 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89704"/>
            <a:ext cx="10820095" cy="7315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489704"/>
            <a:ext cx="45720" cy="7315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709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C4DFF"/>
                </a:solidFill>
                <a:latin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6908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E36"/>
                </a:solidFill>
                <a:latin typeface="Segoe UI"/>
              </a:rPr>
              <a:t>Live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718304"/>
            <a:ext cx="6339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84"/>
                </a:solidFill>
                <a:latin typeface="Segoe UI"/>
              </a:rPr>
              <a:t>The working product, screen by screen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30952"/>
            <a:ext cx="10820095" cy="7315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330952"/>
            <a:ext cx="45720" cy="731520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550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B76A"/>
                </a:solidFill>
                <a:latin typeface="Segoe U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532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E36"/>
                </a:solidFill>
                <a:latin typeface="Segoe UI"/>
              </a:rPr>
              <a:t>Impact &amp; next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559552"/>
            <a:ext cx="6339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84"/>
                </a:solidFill>
                <a:latin typeface="Segoe UI"/>
              </a:rPr>
              <a:t>Value, rollout plan and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4438"/>
                </a:solidFill>
                <a:latin typeface="Segoe UI"/>
              </a:rPr>
              <a:t>THE PROBLEM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Where the hiring funnel actually loses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An illustrative funnel for a single technical role. Replace the volumes with your own and the shape stays the same.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2032345" cy="148132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157514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73E8"/>
                </a:solidFill>
                <a:latin typeface="Segoe UI"/>
              </a:rPr>
              <a:t>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761488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resumes received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per open technical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2737" y="2011680"/>
            <a:ext cx="2032345" cy="148132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0481" y="2231136"/>
            <a:ext cx="157514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9009"/>
                </a:solidFill>
                <a:latin typeface="Segoe UI"/>
              </a:rPr>
              <a:t>12.5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0481" y="2761488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manual reading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at ~3 minutes per resume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9674" y="2011680"/>
            <a:ext cx="2032345" cy="148132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7418" y="2231136"/>
            <a:ext cx="157514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C4DFF"/>
                </a:solidFill>
                <a:latin typeface="Segoe UI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7418" y="2761488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shortlisted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ranked by whoever read them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6612" y="2011680"/>
            <a:ext cx="2032345" cy="148132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4356" y="2231136"/>
            <a:ext cx="157514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9FA8"/>
                </a:solidFill>
                <a:latin typeface="Segoe U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4356" y="2761488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interviewed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after a second manual 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73549" y="2011680"/>
            <a:ext cx="2032345" cy="1481328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1293" y="2231136"/>
            <a:ext cx="157514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B76A"/>
                </a:solidFill>
                <a:latin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1293" y="2761488"/>
            <a:ext cx="15751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hired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4–8 weeks after the first resume arrived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94760"/>
            <a:ext cx="10820095" cy="17830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416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4438"/>
                </a:solidFill>
                <a:latin typeface="Segoe UI"/>
              </a:rPr>
              <a:t>THE PART NOBODY BUDGETS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70832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04438"/>
                </a:solidFill>
                <a:latin typeface="Segoe UI"/>
              </a:rPr>
              <a:t>—  </a:t>
            </a:r>
            <a:r>
              <a:rPr sz="1050" b="1">
                <a:solidFill>
                  <a:srgbClr val="0F1E36"/>
                </a:solidFill>
                <a:latin typeface="Segoe UI"/>
              </a:rPr>
              <a:t>12.5 hours of reading  </a:t>
            </a:r>
            <a:r>
              <a:rPr sz="1050">
                <a:solidFill>
                  <a:srgbClr val="5B6B84"/>
                </a:solidFill>
                <a:latin typeface="Segoe UI"/>
              </a:rPr>
              <a:t>before a single conversation happens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04438"/>
                </a:solidFill>
                <a:latin typeface="Segoe UI"/>
              </a:rPr>
              <a:t>—  </a:t>
            </a:r>
            <a:r>
              <a:rPr sz="1050" b="1">
                <a:solidFill>
                  <a:srgbClr val="0F1E36"/>
                </a:solidFill>
                <a:latin typeface="Segoe UI"/>
              </a:rPr>
              <a:t>20 roles a quarter  </a:t>
            </a:r>
            <a:r>
              <a:rPr sz="1050">
                <a:solidFill>
                  <a:srgbClr val="5B6B84"/>
                </a:solidFill>
                <a:latin typeface="Segoe UI"/>
              </a:rPr>
              <a:t>is roughly 250 hours, about 1.5 FTE-months of pure screening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04438"/>
                </a:solidFill>
                <a:latin typeface="Segoe UI"/>
              </a:rPr>
              <a:t>—  </a:t>
            </a:r>
            <a:r>
              <a:rPr sz="1050" b="1">
                <a:solidFill>
                  <a:srgbClr val="0F1E36"/>
                </a:solidFill>
                <a:latin typeface="Segoe UI"/>
              </a:rPr>
              <a:t>Every re-read starts from zero  </a:t>
            </a:r>
            <a:r>
              <a:rPr sz="1050">
                <a:solidFill>
                  <a:srgbClr val="5B6B84"/>
                </a:solidFill>
                <a:latin typeface="Segoe UI"/>
              </a:rPr>
              <a:t>nothing from the last search is reusable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04164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9009"/>
                </a:solidFill>
                <a:latin typeface="Segoe UI"/>
              </a:rPr>
              <a:t>AND THE QUALITY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370832"/>
            <a:ext cx="5257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79009"/>
                </a:solidFill>
                <a:latin typeface="Segoe UI"/>
              </a:rPr>
              <a:t>—  </a:t>
            </a:r>
            <a:r>
              <a:rPr sz="1050" b="1">
                <a:solidFill>
                  <a:srgbClr val="0F1E36"/>
                </a:solidFill>
                <a:latin typeface="Segoe UI"/>
              </a:rPr>
              <a:t>Fatigue sets in  </a:t>
            </a:r>
            <a:r>
              <a:rPr sz="1050">
                <a:solidFill>
                  <a:srgbClr val="5B6B84"/>
                </a:solidFill>
                <a:latin typeface="Segoe UI"/>
              </a:rPr>
              <a:t>resume 200 is not read like resume 2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79009"/>
                </a:solidFill>
                <a:latin typeface="Segoe UI"/>
              </a:rPr>
              <a:t>—  </a:t>
            </a:r>
            <a:r>
              <a:rPr sz="1050" b="1">
                <a:solidFill>
                  <a:srgbClr val="0F1E36"/>
                </a:solidFill>
                <a:latin typeface="Segoe UI"/>
              </a:rPr>
              <a:t>Two recruiters, two shortlists  </a:t>
            </a:r>
            <a:r>
              <a:rPr sz="1050">
                <a:solidFill>
                  <a:srgbClr val="5B6B84"/>
                </a:solidFill>
                <a:latin typeface="Segoe UI"/>
              </a:rPr>
              <a:t>ranking is not reproducible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F79009"/>
                </a:solidFill>
                <a:latin typeface="Segoe UI"/>
              </a:rPr>
              <a:t>—  </a:t>
            </a:r>
            <a:r>
              <a:rPr sz="1050">
                <a:solidFill>
                  <a:srgbClr val="5B6B84"/>
                </a:solidFill>
                <a:latin typeface="Segoe UI"/>
              </a:rPr>
              <a:t>The strongest candidate may simply never be opened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42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Illustrative model — the demo uses your volumes during the workshop.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4438"/>
                </a:solidFill>
                <a:latin typeface="Segoe UI"/>
              </a:rPr>
              <a:t>THE PROBLEM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Six pain points we heard from HR and hiring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Every one of these is a direct requirement in the platform we built.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342381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11680"/>
            <a:ext cx="45720" cy="1737360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12848"/>
            <a:ext cx="29483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04438"/>
                </a:solidFill>
                <a:latin typeface="Segoe UI"/>
              </a:rPr>
              <a:t>PAIN 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Manual screening does not scale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Headcount grows linearly with applications. Hiring freezes when recruiters go on leave.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3938" y="2011680"/>
            <a:ext cx="342381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3938" y="2011680"/>
            <a:ext cx="45720" cy="1737360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9970" y="2212848"/>
            <a:ext cx="29483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79009"/>
                </a:solidFill>
                <a:latin typeface="Segoe UI"/>
              </a:rPr>
              <a:t>PAIN 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The same skill, ten spellings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K8s, Kubernetes, kubernetes, K8's, EKS — a keyword filter treats them as five different things.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2076" y="2011680"/>
            <a:ext cx="342381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2076" y="2011680"/>
            <a:ext cx="45720" cy="173736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8108" y="2212848"/>
            <a:ext cx="29483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7C4DFF"/>
                </a:solidFill>
                <a:latin typeface="Segoe UI"/>
              </a:rPr>
              <a:t>PAIN 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Keyword ATS filters strings, not meaning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A Django expert is invisible to a 'Python' filter if the word Python never appears.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342381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77639"/>
            <a:ext cx="45720" cy="17373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178807"/>
            <a:ext cx="29483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1A73E8"/>
                </a:solidFill>
                <a:latin typeface="Segoe UI"/>
              </a:rPr>
              <a:t>PAIN 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Scoring is inconsistent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Every recruiter weighs experience, certifications and projects differently, and never the same way twice.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3938" y="3977639"/>
            <a:ext cx="342381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3938" y="3977639"/>
            <a:ext cx="45720" cy="1737360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9970" y="4178807"/>
            <a:ext cx="29483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0E9FA8"/>
                </a:solidFill>
                <a:latin typeface="Segoe UI"/>
              </a:rPr>
              <a:t>PAIN 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Good candidates stay buried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Past applicants are never revisited. The same role is sourced from scratch every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2076" y="3977639"/>
            <a:ext cx="342381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2076" y="3977639"/>
            <a:ext cx="45720" cy="1737360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8108" y="4178807"/>
            <a:ext cx="29483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12B76A"/>
                </a:solidFill>
                <a:latin typeface="Segoe UI"/>
              </a:rPr>
              <a:t>PAIN 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No defensible audit trail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'Why was this candidate rejected?' has no answer that survives a compliance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4438"/>
                </a:solidFill>
                <a:latin typeface="Segoe UI"/>
              </a:rPr>
              <a:t>THE PROBLEM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Why keyword search quietly loses your best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Four failures we can reproduce on demand in any keyword-based ATS.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67208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4438"/>
                </a:solidFill>
                <a:latin typeface="Segoe UI"/>
              </a:rPr>
              <a:t>WHAT THE FILTER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542032"/>
            <a:ext cx="1783080" cy="310896"/>
          </a:xfrm>
          <a:prstGeom prst="roundRect">
            <a:avLst>
              <a:gd name="adj" fmla="val 30000"/>
            </a:avLst>
          </a:prstGeom>
          <a:solidFill>
            <a:srgbClr val="FE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96896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4438"/>
                </a:solidFill>
                <a:latin typeface="Segoe UI"/>
              </a:rPr>
              <a:t>Search "Kubernetes"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56032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Misses K8s, EKS, AKS, "container orchestration" — the candidate is filtered out on spelling.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364991"/>
            <a:ext cx="1783080" cy="310896"/>
          </a:xfrm>
          <a:prstGeom prst="roundRect">
            <a:avLst>
              <a:gd name="adj" fmla="val 30000"/>
            </a:avLst>
          </a:prstGeom>
          <a:solidFill>
            <a:srgbClr val="FE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19856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4438"/>
                </a:solidFill>
                <a:latin typeface="Segoe UI"/>
              </a:rPr>
              <a:t>Search "Python"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338327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Matches a resume that mentions Python once under Interests, and ranks it beside an eight-year Python engineer.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187952"/>
            <a:ext cx="1783080" cy="310896"/>
          </a:xfrm>
          <a:prstGeom prst="roundRect">
            <a:avLst>
              <a:gd name="adj" fmla="val 30000"/>
            </a:avLst>
          </a:prstGeom>
          <a:solidFill>
            <a:srgbClr val="FE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4438"/>
                </a:solidFill>
                <a:latin typeface="Segoe UI"/>
              </a:rPr>
              <a:t>Filter "5+ years"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420624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Reads any number near the word "years" instead of computing real, de-overlapped employment intervals.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010912"/>
            <a:ext cx="1783080" cy="310896"/>
          </a:xfrm>
          <a:prstGeom prst="roundRect">
            <a:avLst>
              <a:gd name="adj" fmla="val 30000"/>
            </a:avLst>
          </a:prstGeom>
          <a:solidFill>
            <a:srgbClr val="FE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065776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4438"/>
                </a:solidFill>
                <a:latin typeface="Segoe UI"/>
              </a:rPr>
              <a:t>Related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502920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Django, Flask and Pandas never roll up to Python. AWS never rolls up from EC2, S3 and Lambda.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965960"/>
            <a:ext cx="3685032" cy="3931920"/>
          </a:xfrm>
          <a:prstGeom prst="roundRect">
            <a:avLst>
              <a:gd name="adj" fmla="val 7000"/>
            </a:avLst>
          </a:prstGeom>
          <a:solidFill>
            <a:srgbClr val="0A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2128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E2B8"/>
                </a:solidFill>
                <a:latin typeface="Segoe UI"/>
              </a:rPr>
              <a:t>WHAT IS ACTUALLY NEEDED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67919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606040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One canonical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25496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9CB5"/>
                </a:solidFill>
                <a:latin typeface="Segoe UI"/>
              </a:rPr>
              <a:t>every synonym resolves to the same node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300984"/>
            <a:ext cx="82296" cy="82296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22783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 hierarchy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44728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9CB5"/>
                </a:solidFill>
                <a:latin typeface="Segoe UI"/>
              </a:rPr>
              <a:t>Django is a child of Python, EC2 of AWS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92277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849624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6908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9CB5"/>
                </a:solidFill>
                <a:latin typeface="Segoe UI"/>
              </a:rPr>
              <a:t>the sentence in the resume that proves the skill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54456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471416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 weighted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69087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9CB5"/>
                </a:solidFill>
                <a:latin typeface="Segoe UI"/>
              </a:rPr>
              <a:t>skills, semantics, experience, certs, projects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5166360"/>
            <a:ext cx="82296" cy="82296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509320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An explanation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312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9CB5"/>
                </a:solidFill>
                <a:latin typeface="Segoe UI"/>
              </a:rPr>
              <a:t>the graph path that produced the ranking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4438"/>
                </a:solidFill>
                <a:latin typeface="Segoe UI"/>
              </a:rPr>
              <a:t>THE PROBLEM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What the status quo costs 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Five risks that compound every quarter the process stays manual.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1988454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11680"/>
            <a:ext cx="45720" cy="2377440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12848"/>
            <a:ext cx="151296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79009"/>
                </a:solidFill>
                <a:latin typeface="Segoe UI"/>
              </a:rPr>
              <a:t>SPEED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F1E36"/>
                </a:solidFill>
                <a:latin typeface="Segoe UI"/>
              </a:rPr>
              <a:t>Time-to-shortlist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Days of reading before the first interview. The best candidates accept another offer while the pile is being read.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3710" y="2011680"/>
            <a:ext cx="1988454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93710" y="2011680"/>
            <a:ext cx="45720" cy="2377440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9742" y="2212848"/>
            <a:ext cx="151296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04438"/>
                </a:solidFill>
                <a:latin typeface="Segoe UI"/>
              </a:rPr>
              <a:t>MONEY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F1E36"/>
                </a:solidFill>
                <a:latin typeface="Segoe UI"/>
              </a:rPr>
              <a:t>Cost per hire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Screening hours are the largest hidden line item, and they scale with volume rather than with hires.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1620" y="2011680"/>
            <a:ext cx="1988454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1620" y="2011680"/>
            <a:ext cx="45720" cy="237744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2212848"/>
            <a:ext cx="151296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7C4DFF"/>
                </a:solidFill>
                <a:latin typeface="Segoe UI"/>
              </a:rPr>
              <a:t>QUALITY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F1E36"/>
                </a:solidFill>
                <a:latin typeface="Segoe UI"/>
              </a:rPr>
              <a:t>Wrong shortlists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Ranking depends on who read the resume and when. Strong profiles are missed, weak ones advance.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9530" y="2011680"/>
            <a:ext cx="1988454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9530" y="2011680"/>
            <a:ext cx="45720" cy="2377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5562" y="2212848"/>
            <a:ext cx="151296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1A73E8"/>
                </a:solidFill>
                <a:latin typeface="Segoe UI"/>
              </a:rPr>
              <a:t>REUSE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F1E36"/>
                </a:solidFill>
                <a:latin typeface="Segoe UI"/>
              </a:rPr>
              <a:t>A dead database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Thousands of parsed resumes sit unused because nothing makes them searchable by capability.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7440" y="2011680"/>
            <a:ext cx="1988454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17440" y="2011680"/>
            <a:ext cx="45720" cy="2377440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3472" y="2212848"/>
            <a:ext cx="151296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12B76A"/>
                </a:solidFill>
                <a:latin typeface="Segoe UI"/>
              </a:rPr>
              <a:t>RISK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F1E36"/>
                </a:solidFill>
                <a:latin typeface="Segoe UI"/>
              </a:rPr>
              <a:t>No audit trail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No reproducible reason for a rejection, which is exactly what regulators and candidates ask for.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09160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0A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9560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The bottleneck is not a lack of candidates. It is the absence of a machine-readable, comparable representation of what each candidate can actually 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79009"/>
                </a:solidFill>
                <a:latin typeface="Segoe UI"/>
              </a:rPr>
              <a:t>THE GOAL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What we set out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One objective, five measurable commitments.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10820095" cy="1024128"/>
          </a:xfrm>
          <a:prstGeom prst="roundRect">
            <a:avLst>
              <a:gd name="adj" fmla="val 8000"/>
            </a:avLst>
          </a:prstGeom>
          <a:solidFill>
            <a:srgbClr val="FFF8EC"/>
          </a:solidFill>
          <a:ln w="12700">
            <a:solidFill>
              <a:srgbClr val="F7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15798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9009"/>
                </a:solidFill>
                <a:latin typeface="Segoe UI"/>
              </a:rPr>
              <a:t>PROJECT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414016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E36"/>
                </a:solidFill>
                <a:latin typeface="Segoe UI"/>
              </a:rPr>
              <a:t>Turn every resume into structured, comparable, explainable evidence — and rank candidates against any role in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18688"/>
            <a:ext cx="3472586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18688"/>
            <a:ext cx="45720" cy="138988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419856"/>
            <a:ext cx="299709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1A73E8"/>
                </a:solidFill>
                <a:latin typeface="Segoe UI"/>
              </a:rPr>
              <a:t>G1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Ingest anything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PDF, DOC, DOCX and TXT at batch scale, with OCR fallback for scanned resumes and checksum-based duplicate detection.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9554" y="3218688"/>
            <a:ext cx="3472586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9554" y="3218688"/>
            <a:ext cx="45720" cy="138988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5586" y="3419856"/>
            <a:ext cx="299709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7C4DFF"/>
                </a:solidFill>
                <a:latin typeface="Segoe UI"/>
              </a:rPr>
              <a:t>G2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One shared vocabulary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Every extracted phrase normalized against an authoritative Skills Knowledge Base you own and can replace.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3308" y="3218688"/>
            <a:ext cx="3472586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3308" y="3218688"/>
            <a:ext cx="45720" cy="1389888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9340" y="3419856"/>
            <a:ext cx="299709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0E9FA8"/>
                </a:solidFill>
                <a:latin typeface="Segoe UI"/>
              </a:rPr>
              <a:t>G3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Connect the evidence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Candidates, skills, technologies, companies, certifications, projects and job roles in one traversable graph.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91456"/>
            <a:ext cx="3472586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791456"/>
            <a:ext cx="45720" cy="1389888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992624"/>
            <a:ext cx="299709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12B76A"/>
                </a:solidFill>
                <a:latin typeface="Segoe UI"/>
              </a:rPr>
              <a:t>G4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Rank, and justify it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A weighted score you can tune per role, with the component breakdown and graph path behind every number.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9554" y="4791456"/>
            <a:ext cx="3472586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9554" y="4791456"/>
            <a:ext cx="45720" cy="1389888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5586" y="4992624"/>
            <a:ext cx="299709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 i="0">
                <a:solidFill>
                  <a:srgbClr val="F79009"/>
                </a:solidFill>
                <a:latin typeface="Segoe UI"/>
              </a:rPr>
              <a:t>G5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Make it usable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Plain-English search, dashboards, exportable reports and role-based access for the whole hiring team.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3308" y="4791456"/>
            <a:ext cx="3472586" cy="1389888"/>
          </a:xfrm>
          <a:prstGeom prst="roundRect">
            <a:avLst>
              <a:gd name="adj" fmla="val 8000"/>
            </a:avLst>
          </a:prstGeom>
          <a:solidFill>
            <a:srgbClr val="0A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7628" y="5029200"/>
            <a:ext cx="29239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FC4FF"/>
                </a:solidFill>
                <a:latin typeface="Segoe UI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7628" y="5303520"/>
            <a:ext cx="292394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All five are built, tested and demonstrated in the walkthrough that follows.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B76A"/>
                </a:solidFill>
                <a:latin typeface="Segoe UI"/>
              </a:rPr>
              <a:t>THE END GOAL  ·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What success looks like once this is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The target state we are demonstrating today, and the metrics that prove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6949440" cy="621792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218541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121408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6"/>
                </a:solidFill>
                <a:latin typeface="Segoe UI"/>
              </a:rPr>
              <a:t>Every resume is searchable seconds after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340864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Parsing, normalization, embedding and graph insertion happen in one pipeline — no overnight batch.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34056"/>
            <a:ext cx="6949440" cy="621792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" y="29077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843784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6"/>
                </a:solidFill>
                <a:latin typeface="Segoe UI"/>
              </a:rPr>
              <a:t>The organisation shares one definition of a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3063240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Recruiters, hiring managers and reports all resolve to the same taxonomy node.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56432"/>
            <a:ext cx="6949440" cy="621792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" y="36301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566160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6"/>
                </a:solidFill>
                <a:latin typeface="Segoe UI"/>
              </a:rPr>
              <a:t>Shortlists take minutes, not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785616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Describe the role, run the match, review a ranked list with evidence attached.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78808"/>
            <a:ext cx="6949440" cy="621792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" y="43525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288536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6"/>
                </a:solidFill>
                <a:latin typeface="Segoe UI"/>
              </a:rPr>
              <a:t>No black-box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507992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Every score carries its breakdown, matched and missing skills, strengths and gaps.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01184"/>
            <a:ext cx="6949440" cy="621792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968" y="50749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5010912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6"/>
                </a:solidFill>
                <a:latin typeface="Segoe UI"/>
              </a:rPr>
              <a:t>The talent graph compounds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5230368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Each resume makes future searches better; past applicants resurface automatically for new roles.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011680"/>
            <a:ext cx="3502152" cy="3575304"/>
          </a:xfrm>
          <a:prstGeom prst="roundRect">
            <a:avLst>
              <a:gd name="adj" fmla="val 8000"/>
            </a:avLst>
          </a:prstGeom>
          <a:solidFill>
            <a:srgbClr val="0A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240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C4FF"/>
                </a:solidFill>
                <a:latin typeface="Segoe UI"/>
              </a:rPr>
              <a:t>NORTH-STAR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60604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Time to shortlist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8072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days → minutes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8211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Screening hours per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3832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12.5 → under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758184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Candidates actually reviewed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95935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100% of the pool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334256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Ranking consistency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53542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identical inputs, identical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91032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Decisions with an audit 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1114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Segoe UI"/>
              </a:rPr>
              <a:t>THE SOLUTION  ·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AI Skill Analyser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Six capabilities, one pipeline, one graph — delivered as a single deployable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342381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11680"/>
            <a:ext cx="45720" cy="175564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12848"/>
            <a:ext cx="294833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Resume intelligence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Multi-engine parsing with OCR fallback. Personal details, work history, education, projects, certifications and skills extracted with the evidence sentence kept.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3938" y="2011680"/>
            <a:ext cx="342381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3938" y="2011680"/>
            <a:ext cx="45720" cy="175564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9970" y="2212848"/>
            <a:ext cx="294833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Skills Knowledge Base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145 skills across 57 categories with synonyms, parent/child hierarchy, related technologies and job-role mappings. Owned by you as a CSV.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2076" y="2011680"/>
            <a:ext cx="342381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2076" y="2011680"/>
            <a:ext cx="45720" cy="1755648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8108" y="2212848"/>
            <a:ext cx="294833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Knowledge graph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9 node types and 12 relationship types linking candidates to everything they have used, held, built and studied.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342381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77639"/>
            <a:ext cx="45720" cy="1755648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178807"/>
            <a:ext cx="294833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Explainable matching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Weighted scoring across skills, semantics, experience, certifications and projects, with the graph path behind every point awarded.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3938" y="3977639"/>
            <a:ext cx="342381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3938" y="3977639"/>
            <a:ext cx="45720" cy="1755648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9970" y="4178807"/>
            <a:ext cx="294833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Natural-language search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Ask in plain English across hybrid, semantic, keyword, graph and skill modes, and get a RAG-generated answer with citations.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2076" y="3977639"/>
            <a:ext cx="342381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2076" y="3977639"/>
            <a:ext cx="45720" cy="1755648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8108" y="4178807"/>
            <a:ext cx="294833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Reports &amp; governance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Dashboards, skill-gap analysis, PDF/CSV/Excel exports, role-based access and a complete audit trail.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4DFF"/>
                </a:solidFill>
                <a:latin typeface="Segoe UI"/>
              </a:rPr>
              <a:t>THE SOLUTION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Why Graph RAG, and not keyword or vector search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Vector search understands language. A graph understands structure. Recruiting needs both.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965960"/>
            <a:ext cx="1912010" cy="658368"/>
          </a:xfrm>
          <a:prstGeom prst="roundRect">
            <a:avLst>
              <a:gd name="adj" fmla="val 7000"/>
            </a:avLst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084831"/>
            <a:ext cx="172913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Keyword / 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322576"/>
            <a:ext cx="172913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String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2418" y="1965960"/>
            <a:ext cx="1912010" cy="658368"/>
          </a:xfrm>
          <a:prstGeom prst="roundRect">
            <a:avLst>
              <a:gd name="adj" fmla="val 7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3858" y="2084831"/>
            <a:ext cx="172913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Vector-only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3858" y="2322576"/>
            <a:ext cx="172913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Embedding similarity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4156" y="1965960"/>
            <a:ext cx="1912010" cy="658368"/>
          </a:xfrm>
          <a:prstGeom prst="roundRect">
            <a:avLst>
              <a:gd name="adj" fmla="val 7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5596" y="2084831"/>
            <a:ext cx="172913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Graph RAG  ·  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5596" y="2322576"/>
            <a:ext cx="172913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Graph + vectors +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43200"/>
            <a:ext cx="10820095" cy="512064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8895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Handles synonyms (K8s = Kubernetes)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889504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2418" y="2889504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4156" y="2889504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19272"/>
            <a:ext cx="10820095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6557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Understands hierarchy (Django rolls up to Python)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465576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2418" y="3465576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4156" y="3465576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895344"/>
            <a:ext cx="10820095" cy="512064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0416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Keeps evidence for each 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041648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9009"/>
                </a:solidFill>
                <a:latin typeface="Segoe UI"/>
              </a:rPr>
              <a:t>Partial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2418" y="4041648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4156" y="4041648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471416"/>
            <a:ext cx="10820095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6177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Explains why a candidate ranked where they did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4617720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2418" y="4617720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4156" y="4617720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047488"/>
            <a:ext cx="10820095" cy="512064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937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Handles phrasing never seen before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5193792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62418" y="5193792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Yes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4156" y="5193792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Yes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7698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Auditable for compliance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5769864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Weak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62418" y="5769864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Weak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84156" y="5769864"/>
            <a:ext cx="1912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Full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FA8"/>
                </a:solidFill>
                <a:latin typeface="Segoe UI"/>
              </a:rPr>
              <a:t>THE SOLUTION  ·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How it works: resume to ranked shortlist in six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One pipeline runs on upload. Everything downstream — search, matching, reports — reads from its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1681429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11680"/>
            <a:ext cx="1681429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135224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73E8"/>
                </a:solidFill>
                <a:latin typeface="Segoe UI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432304"/>
            <a:ext cx="13522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E36"/>
                </a:solidFill>
                <a:latin typeface="Segoe UI"/>
              </a:rP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706624"/>
            <a:ext cx="13522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pdfplumber → PyMuPDF → python-docx → OCR fallback. Checksums catch duplicates.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2385517" y="2793492"/>
            <a:ext cx="109728" cy="128016"/>
          </a:xfrm>
          <a:prstGeom prst="triangle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13533" y="2011680"/>
            <a:ext cx="1681429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3533" y="2011680"/>
            <a:ext cx="1681429" cy="50292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8125" y="2212848"/>
            <a:ext cx="135224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4DFF"/>
                </a:solidFill>
                <a:latin typeface="Segoe UI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8125" y="2432304"/>
            <a:ext cx="13522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E36"/>
                </a:solidFill>
                <a:latin typeface="Segoe UI"/>
              </a:rPr>
              <a:t>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8125" y="2706624"/>
            <a:ext cx="13522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Personal details, work history, education, projects, certifications, skill mentions.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213250" y="2793492"/>
            <a:ext cx="109728" cy="128016"/>
          </a:xfrm>
          <a:prstGeom prst="triangle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1266" y="2011680"/>
            <a:ext cx="1681429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1266" y="2011680"/>
            <a:ext cx="1681429" cy="50292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5858" y="2212848"/>
            <a:ext cx="135224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9FA8"/>
                </a:solidFill>
                <a:latin typeface="Segoe U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5858" y="2432304"/>
            <a:ext cx="13522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E36"/>
                </a:solidFill>
                <a:latin typeface="Segoe UI"/>
              </a:rPr>
              <a:t>Normalize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5858" y="2706624"/>
            <a:ext cx="13522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Every phrase resolved to the Skills KB with match type, confidence and evidence.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6040983" y="2793492"/>
            <a:ext cx="109728" cy="128016"/>
          </a:xfrm>
          <a:prstGeom prst="triangle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68999" y="2011680"/>
            <a:ext cx="1681429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8999" y="2011680"/>
            <a:ext cx="1681429" cy="50292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3591" y="2212848"/>
            <a:ext cx="135224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B76A"/>
                </a:solidFill>
                <a:latin typeface="Segoe UI"/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3591" y="2432304"/>
            <a:ext cx="13522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E36"/>
                </a:solidFill>
                <a:latin typeface="Segoe UI"/>
              </a:rPr>
              <a:t>Build 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3591" y="2706624"/>
            <a:ext cx="13522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Candidate linked to skills, companies, projects, certifications and roles.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7868716" y="2793492"/>
            <a:ext cx="109728" cy="128016"/>
          </a:xfrm>
          <a:prstGeom prst="triangle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96732" y="2011680"/>
            <a:ext cx="1681429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96732" y="2011680"/>
            <a:ext cx="1681429" cy="50292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1324" y="2212848"/>
            <a:ext cx="135224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79009"/>
                </a:solidFill>
                <a:latin typeface="Segoe UI"/>
              </a:rPr>
              <a:t>STEP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1324" y="2432304"/>
            <a:ext cx="13522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E36"/>
                </a:solidFill>
                <a:latin typeface="Segoe UI"/>
              </a:rPr>
              <a:t>Embed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1324" y="2706624"/>
            <a:ext cx="13522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Profile, resume chunks and skill text vectorised for cosine search.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9696450" y="2793492"/>
            <a:ext cx="109728" cy="128016"/>
          </a:xfrm>
          <a:prstGeom prst="triangle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824466" y="2011680"/>
            <a:ext cx="1681429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24466" y="2011680"/>
            <a:ext cx="1681429" cy="50292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89058" y="2212848"/>
            <a:ext cx="135224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4438"/>
                </a:solidFill>
                <a:latin typeface="Segoe UI"/>
              </a:rPr>
              <a:t>STEP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89058" y="2432304"/>
            <a:ext cx="13522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E36"/>
                </a:solidFill>
                <a:latin typeface="Segoe UI"/>
              </a:rPr>
              <a:t>Retrieve &amp; rank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9058" y="2706624"/>
            <a:ext cx="13522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4"/>
                </a:solidFill>
                <a:latin typeface="Segoe UI"/>
              </a:rPr>
              <a:t>Query parsed, expanded through the graph, fused with vectors, scored, explained.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4069080"/>
            <a:ext cx="10820095" cy="1600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2976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9FA8"/>
                </a:solidFill>
                <a:latin typeface="Segoe UI"/>
              </a:rPr>
              <a:t>WHAT MAKES THIS PIPELINE DIFFERENT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46177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—  </a:t>
            </a:r>
            <a:r>
              <a:rPr sz="1050" b="1">
                <a:solidFill>
                  <a:srgbClr val="0F1E36"/>
                </a:solidFill>
                <a:latin typeface="Segoe UI"/>
              </a:rPr>
              <a:t>Provenance is kept  </a:t>
            </a:r>
            <a:r>
              <a:rPr sz="1050">
                <a:solidFill>
                  <a:srgbClr val="5B6B84"/>
                </a:solidFill>
                <a:latin typeface="Segoe UI"/>
              </a:rPr>
              <a:t>every skill carries its match type, confidence and source sentence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—  </a:t>
            </a:r>
            <a:r>
              <a:rPr sz="1050" b="1">
                <a:solidFill>
                  <a:srgbClr val="0F1E36"/>
                </a:solidFill>
                <a:latin typeface="Segoe UI"/>
              </a:rPr>
              <a:t>Experience is computed  </a:t>
            </a:r>
            <a:r>
              <a:rPr sz="1050">
                <a:solidFill>
                  <a:srgbClr val="5B6B84"/>
                </a:solidFill>
                <a:latin typeface="Segoe UI"/>
              </a:rPr>
              <a:t>merged, de-overlapped employment intervals, not a regex on 'years'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61772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—  </a:t>
            </a:r>
            <a:r>
              <a:rPr sz="1050" b="1">
                <a:solidFill>
                  <a:srgbClr val="0F1E36"/>
                </a:solidFill>
                <a:latin typeface="Segoe UI"/>
              </a:rPr>
              <a:t>Re-uploads are safe  </a:t>
            </a:r>
            <a:r>
              <a:rPr sz="1050">
                <a:solidFill>
                  <a:srgbClr val="5B6B84"/>
                </a:solidFill>
                <a:latin typeface="Segoe UI"/>
              </a:rPr>
              <a:t>checksum duplicate detection instead of a second candidate record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—  </a:t>
            </a:r>
            <a:r>
              <a:rPr sz="1050" b="1">
                <a:solidFill>
                  <a:srgbClr val="0F1E36"/>
                </a:solidFill>
                <a:latin typeface="Segoe UI"/>
              </a:rPr>
              <a:t>Every AI dependency has an offline fallback  </a:t>
            </a:r>
            <a:r>
              <a:rPr sz="1050">
                <a:solidFill>
                  <a:srgbClr val="5B6B84"/>
                </a:solidFill>
                <a:latin typeface="Segoe UI"/>
              </a:rPr>
              <a:t>no model downloads, no API keys, no GPU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4DFF"/>
                </a:solidFill>
                <a:latin typeface="Segoe UI"/>
              </a:rPr>
              <a:t>THE SOLUTION  ·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The Skills Knowledge Base is your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A CSV you own, version and replace. Swap the file, re-import, and the whole platform speaks your vocabulary.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70532"/>
            <a:ext cx="5934456" cy="3000118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19-skills-k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5852160" cy="29178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05751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Skills page — taxonomy browser with category grouping and CSV re-import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011680"/>
            <a:ext cx="4645152" cy="13716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22128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ONE ROW PER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487168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skill_id · skill_name · category · parent_skill · related_skills · technology_stack · job_role · experience_level · skill_synonyms · skill_description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844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HOW A RAW PHRASE IS RESOLVED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913632"/>
            <a:ext cx="4645152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3913632"/>
            <a:ext cx="45720" cy="438912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4032504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B76A"/>
                </a:solidFill>
                <a:latin typeface="Segoe UI"/>
              </a:rPr>
              <a:t>1  Exact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032504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E36"/>
                </a:solidFill>
                <a:latin typeface="Segoe UI"/>
              </a:rPr>
              <a:t>Node.js → nodejs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404164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CB5"/>
                </a:solidFill>
                <a:latin typeface="Segoe UI"/>
              </a:rPr>
              <a:t>confidence 1.00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425696"/>
            <a:ext cx="4645152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4425696"/>
            <a:ext cx="45720" cy="438912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454456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9FA8"/>
                </a:solidFill>
                <a:latin typeface="Segoe UI"/>
              </a:rPr>
              <a:t>2  Synonym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54456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E36"/>
                </a:solidFill>
                <a:latin typeface="Segoe UI"/>
              </a:rPr>
              <a:t>K8s → Kubernetes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455371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CB5"/>
                </a:solidFill>
                <a:latin typeface="Segoe UI"/>
              </a:rPr>
              <a:t>confidence 0.95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4937760"/>
            <a:ext cx="4645152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4937760"/>
            <a:ext cx="45720" cy="438912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9168" y="5056632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79009"/>
                </a:solidFill>
                <a:latin typeface="Segoe UI"/>
              </a:rPr>
              <a:t>3  Fuzzy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05663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E36"/>
                </a:solidFill>
                <a:latin typeface="Segoe UI"/>
              </a:rPr>
              <a:t>Kubernetess → Kubernetes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506577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CB5"/>
                </a:solidFill>
                <a:latin typeface="Segoe UI"/>
              </a:rPr>
              <a:t>confidence ~0.80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5449824"/>
            <a:ext cx="4645152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5449824"/>
            <a:ext cx="45720" cy="438912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5568696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4DFF"/>
                </a:solidFill>
                <a:latin typeface="Segoe UI"/>
              </a:rPr>
              <a:t>4  Graph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56869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E36"/>
                </a:solidFill>
                <a:latin typeface="Segoe UI"/>
              </a:rPr>
              <a:t>Django → Python (parent)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55778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CB5"/>
                </a:solidFill>
                <a:latin typeface="Segoe UI"/>
              </a:rPr>
              <a:t>confidence 0.50–0.85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FA8"/>
                </a:solidFill>
                <a:latin typeface="Segoe UI"/>
              </a:rPr>
              <a:t>THE SOLUTION  ·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The knowledge graph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Nine node types and twelve relationship types. This is what turns isolated resumes into a connected talent asset.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9FA8"/>
                </a:solidFill>
                <a:latin typeface="Segoe UI"/>
              </a:rPr>
              <a:t>NODES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86000"/>
            <a:ext cx="1664208" cy="420624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95728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Candidate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286000"/>
            <a:ext cx="1664208" cy="420624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2395728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286000"/>
            <a:ext cx="1664208" cy="420624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395728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Category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98064"/>
            <a:ext cx="1664208" cy="420624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0779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Technology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2798064"/>
            <a:ext cx="1664208" cy="420624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90779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JobRole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798064"/>
            <a:ext cx="1664208" cy="420624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90779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Company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10128"/>
            <a:ext cx="1664208" cy="420624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19856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Project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3310128"/>
            <a:ext cx="1664208" cy="420624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3419856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Certification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310128"/>
            <a:ext cx="1664208" cy="420624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3419856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E36"/>
                </a:solidFill>
                <a:latin typeface="Segoe UI"/>
              </a:rPr>
              <a:t>Education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7763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9FA8"/>
                </a:solidFill>
                <a:latin typeface="Segoe UI"/>
              </a:rPr>
              <a:t>RELATIONSHIPS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2976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HAS_SKILL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2976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WORKED_AT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2976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USED_SKILL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548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7548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HOLDS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47548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STUDIED_AT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120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BELONGS_TO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2120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PART_OF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52120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RELATED_TO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6692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PARENT_OF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56692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DEPENDS_ON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56692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4DFF"/>
                </a:solidFill>
                <a:latin typeface="Segoe UI"/>
              </a:rPr>
              <a:t>REQUIRED_FOR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2492" y="1970532"/>
            <a:ext cx="5321808" cy="2694658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Picture 42" descr="asa-10-graph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11680"/>
            <a:ext cx="5239512" cy="261236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263640" y="4752058"/>
            <a:ext cx="5239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Live knowledge graph from the five demo resumes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800600"/>
            <a:ext cx="5239512" cy="914400"/>
          </a:xfrm>
          <a:prstGeom prst="roundRect">
            <a:avLst>
              <a:gd name="adj" fmla="val 7000"/>
            </a:avLst>
          </a:prstGeom>
          <a:solidFill>
            <a:srgbClr val="0A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498348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FC4FF"/>
                </a:solidFill>
                <a:latin typeface="Segoe UI"/>
              </a:rPr>
              <a:t>A PATH THE MATCHER ACTUALLY WALKED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523036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AWS —[PARENT_OF]→ EC2 (w=0.7)   ·   AWS —[RELATED_TO]→ Terraform (w=0.6)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B76A"/>
                </a:solidFill>
                <a:latin typeface="Segoe UI"/>
              </a:rPr>
              <a:t>THE SOLUTION  ·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The scoring model, in full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No hidden weights. The formula, the credit ladder and the bands are all visible and tunable per role.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10820095" cy="868680"/>
          </a:xfrm>
          <a:prstGeom prst="roundRect">
            <a:avLst>
              <a:gd name="adj" fmla="val 8000"/>
            </a:avLst>
          </a:prstGeom>
          <a:solidFill>
            <a:srgbClr val="0A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overall  =  0.40 · skill  +  0.20 · semantic  +  0.20 · experience  +  0.10 · certification  +  0.10 ·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9923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2B76A"/>
                </a:solidFill>
                <a:latin typeface="Segoe UI"/>
              </a:rPr>
              <a:t>SKILL CREDIT DEGRADES WITH MATCH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28416"/>
            <a:ext cx="5349240" cy="402336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Exact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4290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1.00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03904"/>
            <a:ext cx="5349240" cy="402336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044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Synonym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90448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9FA8"/>
                </a:solidFill>
                <a:latin typeface="Segoe UI"/>
              </a:rPr>
              <a:t>0.95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79392"/>
            <a:ext cx="5349240" cy="402336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997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Fuzzy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37997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9009"/>
                </a:solidFill>
                <a:latin typeface="Segoe UI"/>
              </a:rPr>
              <a:t>~0.80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54880"/>
            <a:ext cx="5349240" cy="402336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5546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Related / parent / child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85546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4DFF"/>
                </a:solidFill>
                <a:latin typeface="Segoe UI"/>
              </a:rPr>
              <a:t>0.55 – 0.85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30368"/>
            <a:ext cx="5349240" cy="402336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3095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E36"/>
                </a:solidFill>
                <a:latin typeface="Segoe UI"/>
              </a:rPr>
              <a:t>Graph-only 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33095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73E8"/>
                </a:solidFill>
                <a:latin typeface="Segoe UI"/>
              </a:rPr>
              <a:t>0.50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992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2B76A"/>
                </a:solidFill>
                <a:latin typeface="Segoe UI"/>
              </a:rPr>
              <a:t>RECOMMENDATION BANDS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328416"/>
            <a:ext cx="5010912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328416"/>
            <a:ext cx="45720" cy="402336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4290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Highly Recommended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4290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B76A"/>
                </a:solidFill>
                <a:latin typeface="Segoe UI"/>
              </a:rPr>
              <a:t>85 –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803904"/>
            <a:ext cx="5010912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3803904"/>
            <a:ext cx="45720" cy="40233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9044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Recommended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90448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73E8"/>
                </a:solidFill>
                <a:latin typeface="Segoe UI"/>
              </a:rPr>
              <a:t>70 – 84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279392"/>
            <a:ext cx="5010912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4279392"/>
            <a:ext cx="45720" cy="402336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437997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Consider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37997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9009"/>
                </a:solidFill>
                <a:latin typeface="Segoe UI"/>
              </a:rPr>
              <a:t>55 – 69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4754880"/>
            <a:ext cx="5010912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4754880"/>
            <a:ext cx="45720" cy="402336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4855464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Not Recommended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485546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4438"/>
                </a:solidFill>
                <a:latin typeface="Segoe UI"/>
              </a:rPr>
              <a:t>below 55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5230368"/>
            <a:ext cx="5010912" cy="685800"/>
          </a:xfrm>
          <a:prstGeom prst="roundRect">
            <a:avLst>
              <a:gd name="adj" fmla="val 6000"/>
            </a:avLst>
          </a:prstGeom>
          <a:solidFill>
            <a:srgbClr val="FEF0EE"/>
          </a:solidFill>
          <a:ln w="12700">
            <a:solidFill>
              <a:srgbClr val="F9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3766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4438"/>
                </a:solidFill>
                <a:latin typeface="Segoe UI"/>
              </a:rPr>
              <a:t>A missing mandatory skill caps the candidate regardless of everything else.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Segoe UI"/>
              </a:rPr>
              <a:t>THE SOLUTION  ·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A conventional, well-separated service architecture — nothing exotic to operate.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1082009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1600200" cy="658368"/>
          </a:xfrm>
          <a:prstGeom prst="roundRect">
            <a:avLst>
              <a:gd name="adj" fmla="val 7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2011680"/>
            <a:ext cx="137160" cy="65836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311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231136"/>
            <a:ext cx="8716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4"/>
                </a:solidFill>
                <a:latin typeface="Segoe UI"/>
              </a:rPr>
              <a:t>React 18 SPA · TypeScript · Material UI · TanStack Query · Recharts · force-directed graph canvas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70632"/>
            <a:ext cx="1082009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770632"/>
            <a:ext cx="1600200" cy="658368"/>
          </a:xfrm>
          <a:prstGeom prst="roundRect">
            <a:avLst>
              <a:gd name="adj" fmla="val 7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48840" y="2770632"/>
            <a:ext cx="137160" cy="65836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900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990088"/>
            <a:ext cx="8716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4"/>
                </a:solidFill>
                <a:latin typeface="Segoe UI"/>
              </a:rPr>
              <a:t>FastAPI · JWT auth with refresh · RBAC dependencies · rate limiting · OpenAPI docs · structured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9584"/>
            <a:ext cx="1082009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529584"/>
            <a:ext cx="1600200" cy="658368"/>
          </a:xfrm>
          <a:prstGeom prst="roundRect">
            <a:avLst>
              <a:gd name="adj" fmla="val 7000"/>
            </a:avLst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48840" y="3529584"/>
            <a:ext cx="137160" cy="658368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49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749040"/>
            <a:ext cx="8716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4"/>
                </a:solidFill>
                <a:latin typeface="Segoe UI"/>
              </a:rPr>
              <a:t>Resume processing · candidates · matching · search · graph · reports · dashboards · audit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88536"/>
            <a:ext cx="1082009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288536"/>
            <a:ext cx="1600200" cy="658368"/>
          </a:xfrm>
          <a:prstGeom prst="roundRect">
            <a:avLst>
              <a:gd name="adj" fmla="val 7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48840" y="4288536"/>
            <a:ext cx="137160" cy="658368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079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AI &amp;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507992"/>
            <a:ext cx="8716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4"/>
                </a:solidFill>
                <a:latin typeface="Segoe UI"/>
              </a:rPr>
              <a:t>Parsers · entity extraction · skill taxonomy · embeddings · vector store · Graph RAG retriever ·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47488"/>
            <a:ext cx="1082009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5047488"/>
            <a:ext cx="1600200" cy="658368"/>
          </a:xfrm>
          <a:prstGeom prst="roundRect">
            <a:avLst>
              <a:gd name="adj" fmla="val 7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48840" y="5047488"/>
            <a:ext cx="137160" cy="658368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669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5266944"/>
            <a:ext cx="8716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4"/>
                </a:solidFill>
                <a:latin typeface="Segoe UI"/>
              </a:rPr>
              <a:t>PostgreSQL + pgvector · Redis · Neo4j or NetworkX · Celery workers · encrypted file storage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852160"/>
            <a:ext cx="10820095" cy="4572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9618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Every heavy dependency degrades gracefully: no FAISS → NumPy, no Neo4j → NetworkX, no model download → deterministic embeddings, no API key → template reasoning.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Segoe UI"/>
              </a:rPr>
              <a:t>THE SOLUTION  ·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Mainstream, supportable technology your team can hire for and operate.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2499283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2499283" cy="566928"/>
          </a:xfrm>
          <a:prstGeom prst="roundRect">
            <a:avLst>
              <a:gd name="adj" fmla="val 8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432304"/>
            <a:ext cx="2499283" cy="14630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76272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712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7614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React 18 + TypeScript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284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186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Vite build tooling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85615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675887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Material UI design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428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33087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TanStack 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7000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Recharts + force graph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572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0474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Light and dark themes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9403" y="2011680"/>
            <a:ext cx="2499283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59403" y="2011680"/>
            <a:ext cx="2499283" cy="566928"/>
          </a:xfrm>
          <a:prstGeom prst="roundRect">
            <a:avLst>
              <a:gd name="adj" fmla="val 8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59403" y="2432304"/>
            <a:ext cx="2499283" cy="146304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8003" y="2176272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88003" y="28712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70883" y="27614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Python 3.11 + FastAPI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8003" y="33284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70883" y="32186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SQLAlchemy 2 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88003" y="3785615"/>
            <a:ext cx="64008" cy="64008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70883" y="3675887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Alembic migrations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88003" y="42428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70883" y="4133087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Pydantic v2 contracts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88003" y="47000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70883" y="45902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Celery + Redis workers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88003" y="51572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70883" y="50474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Structured logging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3007" y="2011680"/>
            <a:ext cx="2499283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33007" y="2011680"/>
            <a:ext cx="2499283" cy="566928"/>
          </a:xfrm>
          <a:prstGeom prst="roundRect">
            <a:avLst>
              <a:gd name="adj" fmla="val 8000"/>
            </a:avLst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3007" y="2432304"/>
            <a:ext cx="2499283" cy="146304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1607" y="2176272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AI / ML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61607" y="28712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44487" y="27614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spaCy entity extraction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61607" y="33284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44487" y="32186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Sentence Transformers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61607" y="3785615"/>
            <a:ext cx="64008" cy="64008"/>
          </a:xfrm>
          <a:prstGeom prst="roundRect">
            <a:avLst>
              <a:gd name="adj" fmla="val 50000"/>
            </a:avLst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44487" y="3675887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pgvector / FAISS / NumPy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61607" y="42428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44487" y="4133087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NetworkX + Neo4j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61607" y="47000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44487" y="45902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Graph RAG retriever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61607" y="51572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44487" y="50474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Template or OpenAI reasoning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06611" y="2011680"/>
            <a:ext cx="2499283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006611" y="2011680"/>
            <a:ext cx="2499283" cy="566928"/>
          </a:xfrm>
          <a:prstGeom prst="roundRect">
            <a:avLst>
              <a:gd name="adj" fmla="val 8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06611" y="2432304"/>
            <a:ext cx="2499283" cy="146304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5211" y="2176272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Data &amp; Ops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35211" y="28712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091" y="27614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PostgreSQL 15 + pgvector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35211" y="33284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8091" y="32186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Redis cache and queue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235211" y="3785615"/>
            <a:ext cx="64008" cy="64008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18091" y="3675887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Neo4j graph database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35211" y="42428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8091" y="4133087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Docker Compose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235211" y="47000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18091" y="45902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138 automated tests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35211" y="51572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18091" y="5047488"/>
            <a:ext cx="18592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4"/>
                </a:solidFill>
                <a:latin typeface="Segoe UI"/>
              </a:rPr>
              <a:t>Ruff + MyPy quality gates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4438"/>
                </a:solidFill>
                <a:latin typeface="Segoe UI"/>
              </a:rPr>
              <a:t>THE SOLUTION  · 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Security, access control 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Built for an enterprise HR function handling personal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342381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11680"/>
            <a:ext cx="45720" cy="13716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12848"/>
            <a:ext cx="29483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Authentication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JWT access and refresh tokens, bcrypt password hashing, session listing and revocation, password reset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3938" y="2011680"/>
            <a:ext cx="342381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3938" y="2011680"/>
            <a:ext cx="45720" cy="13716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9970" y="2212848"/>
            <a:ext cx="29483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Authorisation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A permission matrix enforced as API dependencies, so the UI and the API can never drift apart.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2076" y="2011680"/>
            <a:ext cx="342381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2076" y="2011680"/>
            <a:ext cx="45720" cy="1371600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8108" y="2212848"/>
            <a:ext cx="29483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Audit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Every login, upload, edit, status change and export recorded with actor, target and timestamp.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84448"/>
            <a:ext cx="342381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84448"/>
            <a:ext cx="45720" cy="1371600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785615"/>
            <a:ext cx="29483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Data protection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Optional Fernet encryption of stored resumes, soft delete, checksum de-duplication, configurable retention.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3938" y="3584448"/>
            <a:ext cx="342381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3938" y="3584448"/>
            <a:ext cx="45720" cy="1371600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9970" y="3785615"/>
            <a:ext cx="29483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Hardening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Rate limiting, strict schema validation, structured error handling, API docs disabled in production.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2076" y="3584448"/>
            <a:ext cx="342381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2076" y="3584448"/>
            <a:ext cx="45720" cy="1371600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8108" y="3785615"/>
            <a:ext cx="29483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Data residency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84"/>
                </a:solidFill>
                <a:latin typeface="Segoe UI"/>
              </a:rPr>
              <a:t>Runs entirely inside your infrastructure. With offline models, no candidate data leaves the network.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230368"/>
            <a:ext cx="10820095" cy="658368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" y="5394960"/>
            <a:ext cx="82296" cy="329184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537667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HR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" y="5577840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84"/>
                </a:solidFill>
                <a:latin typeface="Segoe UI"/>
              </a:rPr>
              <a:t>Everything, including users, audit and the Skills KB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5394960"/>
            <a:ext cx="82296" cy="329184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537667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Recruiter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5577840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84"/>
                </a:solidFill>
                <a:latin typeface="Segoe UI"/>
              </a:rPr>
              <a:t>Upload, edit candidates, match, search, report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80" y="5394960"/>
            <a:ext cx="82296" cy="329184"/>
          </a:xfrm>
          <a:prstGeom prst="roundRect">
            <a:avLst>
              <a:gd name="adj" fmla="val 30000"/>
            </a:avLst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537667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Hiring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5577840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84"/>
                </a:solidFill>
                <a:latin typeface="Segoe UI"/>
              </a:rPr>
              <a:t>Read candidates, match, search, report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4DFF"/>
                </a:solidFill>
                <a:latin typeface="Segoe U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Live product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9CB5"/>
                </a:solidFill>
                <a:latin typeface="Segoe UI"/>
              </a:rPr>
              <a:t>Eleven screens from the running platform — every screenshot on the following slides is the real application, not a mockup.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CB5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CB5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Segoe UI"/>
              </a:rPr>
              <a:t>WALKTHROUGH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Secure, role-aware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JWT authentication with refresh tokens, remember-me sessions and a self-service password reset.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Sign-in — the platform is permission-aware from the first screen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73E8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A73E8"/>
                </a:solidFill>
                <a:latin typeface="Segoe UI"/>
              </a:rPr>
              <a:t>›  </a:t>
            </a:r>
            <a:r>
              <a:rPr sz="1050" b="1">
                <a:solidFill>
                  <a:srgbClr val="0F1E36"/>
                </a:solidFill>
                <a:latin typeface="Segoe UI"/>
              </a:rPr>
              <a:t>Three seeded roles  </a:t>
            </a:r>
            <a:r>
              <a:rPr sz="1050">
                <a:solidFill>
                  <a:srgbClr val="5B6B84"/>
                </a:solidFill>
                <a:latin typeface="Segoe UI"/>
              </a:rPr>
              <a:t>HR Admin, Recruiter, Hiring Manager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A73E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Navigation and actions adapt to the signed-in user's permissions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A73E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Active sessions are visible and revocable from Settings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A73E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Every sign-in is written to the audit log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Segoe UI"/>
              </a:rPr>
              <a:t>WALKTHROUGH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Dashboard: the state of the pipeline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Live counts, parse health, average experience and match quality the moment resumes land.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Dashboard — recruitment overview with live KPIs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73E8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A73E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Candidates, resumes processed, shortlisted and pending review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A73E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Average experience and average match score across the pool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A73E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Top skills and technologies in the talent pool, charted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A73E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Recent activity feed and AI-generated recommendations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4DFF"/>
                </a:solidFill>
                <a:latin typeface="Segoe UI"/>
              </a:rPr>
              <a:t>WALKTHROUGH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Upload: drag, drop,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Batch upload up to 25 resumes at a time. Parsing, normalization, embedding and graph insertion run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04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Upload — batch ingestion with per-file parse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4DFF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7C4DFF"/>
                </a:solidFill>
                <a:latin typeface="Segoe UI"/>
              </a:rPr>
              <a:t>›  </a:t>
            </a:r>
            <a:r>
              <a:rPr sz="1050" b="1">
                <a:solidFill>
                  <a:srgbClr val="0F1E36"/>
                </a:solidFill>
                <a:latin typeface="Segoe UI"/>
              </a:rPr>
              <a:t>PDF, DOC, DOCX and TXT  </a:t>
            </a:r>
            <a:r>
              <a:rPr sz="1050">
                <a:solidFill>
                  <a:srgbClr val="5B6B84"/>
                </a:solidFill>
                <a:latin typeface="Segoe UI"/>
              </a:rPr>
              <a:t>OCR fallback for scanned documents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7C4DFF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Per-file result: extracted name, skills found, parse time, warnings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7C4DFF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Duplicate detection by checksum — no accidental double records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7C4DFF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Runs inline or on Celery workers for large batches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4DFF"/>
                </a:solidFill>
                <a:latin typeface="Segoe UI"/>
              </a:rPr>
              <a:t>WALKTHROUGH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Candidates: one searchable, filterable talent 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Server-side pagination over the whole database, with the filters recruiters actually ask for.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06-candidates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Candidate list — filters, inline skills and AI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4DFF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7C4DFF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Filter by skill, status, minimum experience, location and company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7C4DFF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Top skills and AI score shown inline for fast triage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7C4DFF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Status workflow: pending review, shortlisted, rejected, hired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7C4DFF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One-click CSV export of the filtered set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FA8"/>
                </a:solidFill>
                <a:latin typeface="Segoe UI"/>
              </a:rPr>
              <a:t>WALKTHROUGH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Candidate profile: normalized skills with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Raw resume phrases resolved into the taxonomy, grouped by category, each one traceable back to the source 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08-profile-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Candidate profile — skills normalized against the Knowledge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9FA8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Skills grouped by category, not a flat keyword cloud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Match type and confidence retained for every skill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Timeline, education, projects, certifications and recruiter notes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Similar candidates and the candidate's own subgraph, one tab away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B76A"/>
                </a:solidFill>
                <a:latin typeface="Segoe UI"/>
              </a:rPr>
              <a:t>WALKTHROUGH  ·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AI skill match: a ranked shortlist in under a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Describe the role, run the match, and get every candidate scored, banded and ordered.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11-match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Skill Match — ranked candidates with matched skills and score bands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B76A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Required, mandatory and preferred skills, plus certifications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Live weight sliders — re-rank for a role in real time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Recommendation bands: Highly Recommended → Not Recommended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This run evaluated the pool in 98 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B76A"/>
                </a:solidFill>
                <a:latin typeface="Segoe UI"/>
              </a:rPr>
              <a:t>WALKTHROUGH  ·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Every score decomposes into five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Side-by-side comparison shows exactly where each candidate gained and lost points.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13-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Score comparison — component breakdown per candidate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B76A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Skill, semantic, experience, certification and project shown separately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Compare the top candidates on the same axes, at a glance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Change a weight and the whole comparison recalculates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The same numbers are available through the API for your own reporting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B76A"/>
                </a:solidFill>
                <a:latin typeface="Segoe UI"/>
              </a:rPr>
              <a:t>WALKTHROUGH  ·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"Why this ranking?" — answered on every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A written justification, the strengths, the gaps and interview questions generated from the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14-expla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Explainability panel — narrative, strengths, gaps and interview 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B76A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Plain-language explanation of how the score was reached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Strengths with proficiency, and gaps stated explicitly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Certifications credited by name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12B76A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Suggested interview questions targeted at this candidate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79009"/>
                </a:solidFill>
                <a:latin typeface="Segoe UI"/>
              </a:rPr>
              <a:t>WALKTHROUGH  ·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Search in plain English, answered by the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The query is parsed into skills and constraints, expanded through the graph, then fused with vector hits.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F790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15-search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Search — natural-language query with a RAG answer and graph citations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79009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79009"/>
                </a:solidFill>
                <a:latin typeface="Segoe UI"/>
              </a:rPr>
              <a:t>›  </a:t>
            </a:r>
            <a:r>
              <a:rPr sz="1050" b="1">
                <a:solidFill>
                  <a:srgbClr val="0F1E36"/>
                </a:solidFill>
                <a:latin typeface="Segoe UI"/>
              </a:rPr>
              <a:t>Five modes  </a:t>
            </a:r>
            <a:r>
              <a:rPr sz="1050">
                <a:solidFill>
                  <a:srgbClr val="5B6B84"/>
                </a:solidFill>
                <a:latin typeface="Segoe UI"/>
              </a:rPr>
              <a:t>hybrid, semantic, keyword, graph and skill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79009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A RAG-generated answer summarising the strongest candidates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79009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The graph paths used are printed with their weights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79009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This query returned in 20 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9FA8"/>
                </a:solidFill>
                <a:latin typeface="Segoe UI"/>
              </a:rPr>
              <a:t>WALKTHROUGH  ·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The knowledge graph, explorable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The asset that grows with every resume: an interactive map of who knows what, and how it all connects.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0E9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10-graph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Knowledge graph explorer — force-directed view of the live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9FA8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356 nodes and 1 351 relationships from just five demo resumes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Focus on a skill, set traversal depth, expand any node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Rebuild on demand; NetworkX in-process or Neo4j for scale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0E9FA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Powers similar-candidate discovery and skill expansion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4438"/>
                </a:solidFill>
                <a:latin typeface="Segoe UI"/>
              </a:rPr>
              <a:t>WALKTHROUGH  ·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Reports that prove what the pipeline is doing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Operational KPIs, skill-gap analysis and exports for the numbers your leadership already tracks.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F0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" y="1924812"/>
            <a:ext cx="7443216" cy="3752369"/>
          </a:xfrm>
          <a:prstGeom prst="roundRect">
            <a:avLst>
              <a:gd name="adj" fmla="val 3000"/>
            </a:avLst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sa-17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360920" cy="367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764049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C9CB5"/>
                </a:solidFill>
                <a:latin typeface="Segoe UI"/>
              </a:rPr>
              <a:t>Reports — KPIs, trends and exportable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965960"/>
            <a:ext cx="3075127" cy="3670073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212848"/>
            <a:ext cx="2599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04438"/>
                </a:solidFill>
                <a:latin typeface="Segoe UI"/>
              </a:rPr>
              <a:t>IN THIS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42032"/>
            <a:ext cx="2599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0443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Parse success rate, average parse time and shortlist rate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0443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Hiring trends, skill distribution and gap analysis by period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0443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Export to PDF, CSV or Excel in one click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04438"/>
                </a:solidFill>
                <a:latin typeface="Segoe UI"/>
              </a:rPr>
              <a:t>›  </a:t>
            </a:r>
            <a:r>
              <a:rPr sz="1050">
                <a:solidFill>
                  <a:srgbClr val="5B6B84"/>
                </a:solidFill>
                <a:latin typeface="Segoe UI"/>
              </a:rPr>
              <a:t>Full audit trail available to HR Admins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B76A"/>
                </a:solidFill>
                <a:latin typeface="Segoe UI"/>
              </a:rPr>
              <a:t>IMPACT &amp; NEXT STEPS  ·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E36"/>
                </a:solidFill>
                <a:latin typeface="Segoe UI"/>
              </a:rPr>
              <a:t>What changes on day one, and where we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4"/>
                </a:solidFill>
                <a:latin typeface="Segoe UI"/>
              </a:rPr>
              <a:t>The platform is built, tested and running. The remaining work is your data and your rollout.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58368"/>
            <a:ext cx="50292" cy="438912"/>
          </a:xfrm>
          <a:prstGeom prst="rect">
            <a:avLst/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10972"/>
          </a:xfrm>
          <a:prstGeom prst="rect">
            <a:avLst/>
          </a:prstGeom>
          <a:solidFill>
            <a:srgbClr val="E1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AI Skill Analyser  ·  Graph RAG HR Recruitment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510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BC"/>
                </a:solidFill>
                <a:latin typeface="Segoe U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69037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4438"/>
                </a:solidFill>
                <a:latin typeface="Segoe U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2B76A"/>
                </a:solidFill>
                <a:latin typeface="Segoe UI"/>
              </a:rPr>
              <a:t>WITH AI SKILL ANALYSER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Screening a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7919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4"/>
                </a:solidFill>
                <a:latin typeface="Segoe UI"/>
              </a:rPr>
              <a:t>12.5 hours of 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7919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Minutes, over the entire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3580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2783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4"/>
                </a:solidFill>
                <a:latin typeface="Segoe UI"/>
              </a:rPr>
              <a:t>Depends who read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278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Same inputs, same result, every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8444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Justification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7647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4"/>
                </a:solidFill>
                <a:latin typeface="Segoe UI"/>
              </a:rPr>
              <a:t>A recruiter's recollection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7647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Score breakdown plus graph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133087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CB5"/>
                </a:solidFill>
                <a:latin typeface="Segoe UI"/>
              </a:rPr>
              <a:t>Past applicants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2511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84"/>
                </a:solidFill>
                <a:latin typeface="Segoe UI"/>
              </a:rPr>
              <a:t>Effectively lost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32511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E36"/>
                </a:solidFill>
                <a:latin typeface="Segoe UI"/>
              </a:rPr>
              <a:t>Resurface automatically for new roles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1965960"/>
            <a:ext cx="3639312" cy="2788920"/>
          </a:xfrm>
          <a:prstGeom prst="roundRect">
            <a:avLst>
              <a:gd name="adj" fmla="val 8000"/>
            </a:avLst>
          </a:prstGeom>
          <a:solidFill>
            <a:srgbClr val="0A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2" y="217627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C4FF"/>
                </a:solidFill>
                <a:latin typeface="Segoe UI"/>
              </a:rPr>
              <a:t>PROPOSED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248716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4DFF"/>
                </a:solidFill>
                <a:latin typeface="Segoe UI"/>
              </a:rPr>
              <a:t>Week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267004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Load your Skills CSV and a sample of 200 real resumes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305409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4DFF"/>
                </a:solidFill>
                <a:latin typeface="Segoe UI"/>
              </a:rPr>
              <a:t>Week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323697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Calibrate weights with your recruiters on two live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3621024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4DFF"/>
                </a:solidFill>
                <a:latin typeface="Segoe UI"/>
              </a:rPr>
              <a:t>Week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3803904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Deploy to your cloud, connect SSO, import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418795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4DFF"/>
                </a:solidFill>
                <a:latin typeface="Segoe UI"/>
              </a:rPr>
              <a:t>Week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437083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Pilot with one hiring team, measure time-to-shortlist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956048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ECFAF2"/>
          </a:solidFill>
          <a:ln w="12700">
            <a:solidFill>
              <a:srgbClr val="B8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" y="51389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6"/>
                </a:solidFill>
                <a:latin typeface="Segoe UI"/>
              </a:rPr>
              <a:t>The platform is complete and demonstrable today — 138 automated tests, Docker deployment, and full documentation.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5230368"/>
            <a:ext cx="2770632" cy="402336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Ready for your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